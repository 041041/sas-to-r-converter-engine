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CLINICAL DATA SCIENCE &amp; SAS MODERNIZATION PLATFORM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SAS to R Modernization Studio</a:t>
            </a:r>
          </a:p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AI-Assisted Clinical SAS Migration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937760"/>
            <a:ext cx="3291840" cy="100584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LLM-Assisted Translation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Intelligent code analysis &amp; R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3" y="4937760"/>
            <a:ext cx="3291840" cy="100584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Macro Resolution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Automated dependency expansion &amp;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7" y="4937760"/>
            <a:ext cx="3291840" cy="100584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Closed-Loop R Validation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Rscript execution &amp; dataset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SAS to R Modernization Challenge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Key Operational &amp; Technical Friction Points in Clinical Migration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Legacy SAS Codebase Overhead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Decades of accumulated SAS DATA steps, PROCs, and custom macros require modernization without breaking validated analytical pipelines.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Macro Dependency Chains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Deeply nested macros, global %let variables, and dynamic code generation obscure data lineage and manual conversion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645920"/>
            <a:ext cx="10972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Manual Rewrite Effort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Line-by-line manual translation from SAS to R consumes thousands of bio-statistical hours, introducing high costs and slow timelines.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Quality &amp; Traceability Risks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Manual translation carries substantial risk of subtle calculation errors, requiring rigorous side-by-side validation against baseline outputs.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93192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Our Solution: SAS-to-R Modernization Platform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Automated Workflow from Macro Resolution to Execution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SAS Program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Import legacy SAS scripts &amp; dependencies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68296" y="2651760"/>
            <a:ext cx="109728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14600" y="18288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Macro Resolution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Expand parameters &amp; resolve nested macros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1376" y="2651760"/>
            <a:ext cx="109728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SAS Parsing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Extract DATA steps, PROCs &amp; logic tree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34456" y="2651760"/>
            <a:ext cx="109728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59" y="1828800"/>
            <a:ext cx="1600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4. SAS → R Conversion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LLM-assisted conversion to Modern R / Base 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17535" y="2651760"/>
            <a:ext cx="109728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R Validation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Execute Rscript &amp; compare DataFrame output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00616" y="2651760"/>
            <a:ext cx="109728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6920" y="1828800"/>
            <a:ext cx="1600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6. Conversion Audit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Diagnostic trace &amp; execution status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728655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CORE PLATFORM PRINCIPLES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Preserves Analytical Intent: Accurately maps SAS DATA step expressions, PROCs, and implicit loops into structured R functions.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Configurable R Dialects: Generates clean, readable Modern R (tidyverse) or pure Base R based on organizational standards.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Closed-Loop Verification: Automatically executes generated R code against sample data to verify shape, types, and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SAS → R Conversion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Representative Demonstration: DATA Step &amp; PROC SQL Aggregation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645920" cy="4114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SAS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55532904320" y="1463040"/>
            <a:ext cx="1645920" cy="4114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Macro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1065077120" y="1463040"/>
            <a:ext cx="1645920" cy="4114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SAS Understanding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66597249920" y="1463040"/>
            <a:ext cx="164592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 Translation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2129422720" y="1463040"/>
            <a:ext cx="1645920" cy="4114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Execution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7661595520" y="1463040"/>
            <a:ext cx="1645920" cy="4114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Final R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5212080" cy="4297680"/>
          </a:xfrm>
          <a:prstGeom prst="roundRect">
            <a:avLst/>
          </a:prstGeom>
          <a:solidFill>
            <a:srgbClr val="1A1D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EA5E9"/>
                </a:solidFill>
              </a:defRPr>
            </a:pPr>
            <a:r>
              <a:t>ORIGINAL SAS CODE (orders.sas)</a:t>
            </a:r>
          </a:p>
          <a:p>
            <a:pPr>
              <a:defRPr sz="1050">
                <a:solidFill>
                  <a:srgbClr val="F1F5F9"/>
                </a:solidFill>
                <a:latin typeface="Consolas"/>
              </a:defRPr>
            </a:pPr>
            <a:r>
              <a:t>/* 1. DATA Step &amp; Datalines Creation */</a:t>
            </a:r>
            <a:br/>
            <a:r>
              <a:t>data orders;</a:t>
            </a:r>
            <a:br/>
            <a:r>
              <a:t>  input cust_id $ order_id amount;</a:t>
            </a:r>
            <a:br/>
            <a:r>
              <a:t>  datalines;</a:t>
            </a:r>
            <a:br/>
            <a:r>
              <a:t>  C101 1001 250</a:t>
            </a:r>
            <a:br/>
            <a:r>
              <a:t>  C101 1002 400</a:t>
            </a:r>
            <a:br/>
            <a:r>
              <a:t>  C102 1003 150</a:t>
            </a:r>
            <a:br/>
            <a:r>
              <a:t>  C101 1004 300</a:t>
            </a:r>
            <a:br/>
            <a:r>
              <a:t>  C103 1005 500</a:t>
            </a:r>
            <a:br/>
            <a:r>
              <a:t>;</a:t>
            </a:r>
            <a:br/>
            <a:r>
              <a:t>run;</a:t>
            </a:r>
            <a:br/>
            <a:br/>
            <a:r>
              <a:t>/* 2. PROC SQL Aggregation &amp; Filtering */</a:t>
            </a:r>
            <a:br/>
            <a:r>
              <a:t>proc sql;</a:t>
            </a:r>
            <a:br/>
            <a:r>
              <a:t>  create table customer_summary as</a:t>
            </a:r>
            <a:br/>
            <a:r>
              <a:t>  select cust_id,</a:t>
            </a:r>
            <a:br/>
            <a:r>
              <a:t>         count(order_id) as total_orders,</a:t>
            </a:r>
            <a:br/>
            <a:r>
              <a:t>         sum(amount) as total_spent</a:t>
            </a:r>
            <a:br/>
            <a:r>
              <a:t>  from orders</a:t>
            </a:r>
            <a:br/>
            <a:r>
              <a:t>  group by cust_id</a:t>
            </a:r>
            <a:br/>
            <a:r>
              <a:t>  having total_spent &gt; 500</a:t>
            </a:r>
            <a:br/>
            <a:r>
              <a:t>  order by total_spent desc;</a:t>
            </a:r>
            <a:br/>
            <a:r>
              <a:t>quit;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42255" cy="4297680"/>
          </a:xfrm>
          <a:prstGeom prst="roundRect">
            <a:avLst/>
          </a:prstGeom>
          <a:solidFill>
            <a:srgbClr val="1A1D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GENERATED MODERN R (tidyverse)</a:t>
            </a:r>
          </a:p>
          <a:p>
            <a:pPr>
              <a:defRPr sz="1050">
                <a:solidFill>
                  <a:srgbClr val="F1F5F9"/>
                </a:solidFill>
                <a:latin typeface="Consolas"/>
              </a:defRPr>
            </a:pPr>
            <a:r>
              <a:t># 1. Data Frame Initialization</a:t>
            </a:r>
            <a:br/>
            <a:r>
              <a:t>orders &lt;- data.frame(</a:t>
            </a:r>
            <a:br/>
            <a:r>
              <a:t>  cust_id = c("C101", "C101", "C102", "C101", "C103"),</a:t>
            </a:r>
            <a:br/>
            <a:r>
              <a:t>  order_id = c(1001, 1002, 1003, 1004, 1005),</a:t>
            </a:r>
            <a:br/>
            <a:r>
              <a:t>  amount = c(250, 400, 150, 300, 500)</a:t>
            </a:r>
            <a:br/>
            <a:r>
              <a:t>)</a:t>
            </a:r>
            <a:br/>
            <a:br/>
            <a:r>
              <a:t># 2. PROC SQL Translation Pipeline</a:t>
            </a:r>
            <a:br/>
            <a:r>
              <a:t>customer_summary &lt;- orders %&gt;%</a:t>
            </a:r>
            <a:br/>
            <a:r>
              <a:t>  group_by(cust_id) %&gt;%</a:t>
            </a:r>
            <a:br/>
            <a:r>
              <a:t>  summarise(</a:t>
            </a:r>
            <a:br/>
            <a:r>
              <a:t>    total_orders = n(),</a:t>
            </a:r>
            <a:br/>
            <a:r>
              <a:t>    total_spent = sum(amount),</a:t>
            </a:r>
            <a:br/>
            <a:r>
              <a:t>    .groups = "drop"</a:t>
            </a:r>
            <a:br/>
            <a:r>
              <a:t>  ) %&gt;%</a:t>
            </a:r>
            <a:br/>
            <a:r>
              <a:t>  filter(total_spent &gt; 500) %&gt;%</a:t>
            </a:r>
            <a:br/>
            <a:r>
              <a:t>  arrange(desc(total_spent))</a:t>
            </a:r>
            <a:br/>
            <a:br/>
            <a:r>
              <a:t>customer_summary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Intelligent Conversion Capabilities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Verified SAS Constructs &amp; Automated R Translation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DATA Step Translation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SET, IF/ELSE statements, conditional variable creation, and column assignments.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61688" y="1645920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PROC SQL Conversion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SELECT, JOIN, WHERE filters, GROUP BY aggregations, HAVING clauses, and ORDER BY.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91856" y="1645920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PROC SORT &amp; Logic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BY-variable sorting, DESCENDING keywords, and FIRST./LAST. group indexing.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PROC MEANS &amp; FREQ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Summary statistics, cross-tabulations (count &amp; rename), and frequency distributions.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3657600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PROC REPORT &amp; TRANSPOSE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Wide/long dataset reshaping, summary subtotals, and column structure mapping.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1856" y="3657600"/>
            <a:ext cx="34564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SAS Function Hints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Built-in mapping for INTCK, INTNX, COMPRESS, CATX, SCAN, SUBSTR, PUT, and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CAPABILITY SCOPE &amp; TRANSPARENCY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“Automates supported SAS constructs and identifies complex cases requiring review.”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Macro &amp; Complex SAS Handling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Automated Parsing &amp; Expansion of SAS Macro Dependencies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300" b="1">
                <a:solidFill>
                  <a:srgbClr val="0EA5E9"/>
                </a:solidFill>
              </a:defRPr>
            </a:pPr>
            <a:r>
              <a:t>MACRO RESOLUTION TREE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• MAIN_PROGRAM.SAS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Master execution script</a:t>
            </a:r>
          </a:p>
          <a:p>
            <a:pPr>
              <a:spcBef>
                <a:spcPts val="200"/>
              </a:spcBef>
              <a:defRPr sz="1100" b="1">
                <a:solidFill>
                  <a:srgbClr val="3B82F6"/>
                </a:solidFill>
              </a:defRPr>
            </a:pPr>
            <a:r>
              <a:t>↓  %include / Macro Call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• %MACRO_A(study=CDISC)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Global parameter extraction</a:t>
            </a:r>
          </a:p>
          <a:p>
            <a:pPr>
              <a:spcBef>
                <a:spcPts val="200"/>
              </a:spcBef>
              <a:defRPr sz="1100" b="1">
                <a:solidFill>
                  <a:srgbClr val="3B82F6"/>
                </a:solidFill>
              </a:defRPr>
            </a:pPr>
            <a:r>
              <a:t>↓  Nested Invocation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• %MACRO_B(ds=adsl)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Table &amp; variable scoping</a:t>
            </a:r>
          </a:p>
          <a:p>
            <a:pPr>
              <a:spcBef>
                <a:spcPts val="200"/>
              </a:spcBef>
              <a:defRPr sz="1100" b="1">
                <a:solidFill>
                  <a:srgbClr val="3B82F6"/>
                </a:solidFill>
              </a:defRPr>
            </a:pPr>
            <a:r>
              <a:t>↓  Child Utility Call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• %MACRO_C(var=age)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Statement expansion &amp; code inline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645920"/>
            <a:ext cx="633953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Macro Discovery &amp; Parsing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Automatically scans SAS libraries to extract %macro definitions, parameter lists, and default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578608"/>
            <a:ext cx="633953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Global %LET Substitution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Tracks global %let variables across multiple files and substitutes values into downstream DATA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3511296"/>
            <a:ext cx="633953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Nested Macro Resolution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Recursively resolves multi-level macro calls, expanding macro bodies into plain executable SAS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443984"/>
            <a:ext cx="633953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Context-Aware Parameter Mapping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Maps &amp;parameter references to R function arguments or data frame column selectors.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5376672"/>
            <a:ext cx="633953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Resolution Diagnostics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Generates warnings for unresolved macro variables, missing includes, or circular macro dependencies.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Quality &amp; Execution Validation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Closed-Loop R Script Verification &amp; Output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965960" cy="6400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1. SAS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16935" y="1645920"/>
            <a:ext cx="1965960" cy="6400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2. Generated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02351" y="1645920"/>
            <a:ext cx="1965960" cy="6400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3. R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87767" y="1645920"/>
            <a:ext cx="1965960" cy="6400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4. Output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73184" y="1645920"/>
            <a:ext cx="1965960" cy="64008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5. Quality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EXECUTION &amp; VALIDATION METRICS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108960"/>
            <a:ext cx="237744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Conversion Status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108960"/>
            <a:ext cx="237744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Execution Status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3B82F6"/>
                </a:solidFill>
              </a:defRPr>
            </a:pPr>
            <a:r>
              <a:t>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237744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Conversion Warnings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0EA5E9"/>
                </a:solidFill>
              </a:defRPr>
            </a:pPr>
            <a:r>
              <a:t>Displayed when applicable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108960"/>
            <a:ext cx="237744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64592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Manual Review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7C3AED"/>
                </a:solidFill>
              </a:defRPr>
            </a:pPr>
            <a:r>
              <a:t>Flagged when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KEY VALIDATION CAPABILITIES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Rscript Subprocess Execution: Runs generated R script in an isolated environment to verify syntax and library imports.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DataFrame Comparison Engine: Evaluates row dimensions, column names, character case, and numeric values within a set tolerance (1e-3).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Automated Feedback Loop: Feeds execution runtime errors back to the translation engine for automated R script repair.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Supporting Platform Capabilities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Integrated Modules Enhancing Clinical Migration Workflows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PROJECT WORKSPACE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Organize SAS programs, macro libraries, clinical metadata, generated R scripts, and audit logs within a structured environment.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578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CLINICAL METADATA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Support clinical data standard metadata workflows, variable mapping specifications, and Define.xml structures.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645920"/>
            <a:ext cx="52578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TLF SUPPORT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Interpret clinical TLF (Tables, Listings, Figures) shell specifications to generate structured R code utilizing gt and text formatting.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578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ANALYTICS / GRAPHING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Interactive Graph Builder module to create clinical charts (Bar, Line, Scatter, Boxplot) powered by ggplot2 with custom styling.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931920"/>
            <a:ext cx="52578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Client Value &amp; Next Steps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Strategic Outcomes for Clinical SAS Modernization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965960" cy="219456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01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Accelerate Modernization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Dramatically shorten SAS-to-R migration timelines.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8345121919" y="1645920"/>
            <a:ext cx="1965960" cy="219456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02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Reduce Manual Effort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Minimize repetitive manual rewriting &amp; bio-statistical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6689512320" y="1645920"/>
            <a:ext cx="1965960" cy="219456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03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Improve Consistency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Standardize R output to modern tidyverse / Base R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95033902720" y="1645920"/>
            <a:ext cx="1965960" cy="219456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04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Early Risk Detection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Identify conversion gaps &amp; logic edge cases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3378293120" y="1645920"/>
            <a:ext cx="1965960" cy="2194560"/>
          </a:xfrm>
          <a:prstGeom prst="roundRect">
            <a:avLst/>
          </a:prstGeom>
          <a:solidFill>
            <a:srgbClr val="141B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05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Full Traceability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Maintain transparent conversion trace &amp; side-by-side audit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RECOMMENDED NEXT STEP FOR CLIENT ENGAGEMENT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“Validate the platform against representative client SAS programs and macro libraries.”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1. Pilot Run: Execute modernization studio on 5–10 representative client SAS programs.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2. Custom Macro Calibration: Integrate client-specific macro libraries into resolution processor.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3. Validation Benchmark: Deliver complete side-by-side output comparison and execution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